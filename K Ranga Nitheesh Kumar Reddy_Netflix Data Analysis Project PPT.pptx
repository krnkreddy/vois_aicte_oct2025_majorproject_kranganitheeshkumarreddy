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handoutMasterIdLst>
    <p:handoutMasterId r:id="rId18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4" r:id="rId13"/>
    <p:sldId id="342" r:id="rId14"/>
    <p:sldId id="343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09B11-726B-622E-F1D0-53498C852A02}" v="122" dt="2025-09-25T09:02:38.15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117" d="100"/>
          <a:sy n="117" d="100"/>
        </p:scale>
        <p:origin x="234" y="10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10/16/2025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8671" y="4141999"/>
            <a:ext cx="4155622" cy="936187"/>
          </a:xfrm>
        </p:spPr>
        <p:txBody>
          <a:bodyPr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K Ranga </a:t>
            </a:r>
            <a:r>
              <a:rPr lang="en-US" b="0" dirty="0" err="1">
                <a:solidFill>
                  <a:schemeClr val="tx1"/>
                </a:solidFill>
              </a:rPr>
              <a:t>Nitheesh</a:t>
            </a:r>
            <a:r>
              <a:rPr lang="en-US" b="0" dirty="0">
                <a:solidFill>
                  <a:schemeClr val="tx1"/>
                </a:solidFill>
              </a:rPr>
              <a:t> Kumar Reddy</a:t>
            </a: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APPLY_175569249068a5bdca6dbf5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Netflix Data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55000" lnSpcReduction="20000"/>
          </a:bodyPr>
          <a:lstStyle/>
          <a:p>
            <a:r>
              <a:rPr lang="en-US" sz="2800" dirty="0"/>
              <a:t>Netflix is one of the world’s leading streaming platforms, offering a vast collection of movies and TV shows that continues to grow through original productions and licensed content.</a:t>
            </a:r>
          </a:p>
          <a:p>
            <a:r>
              <a:rPr lang="en-US" sz="2800" dirty="0"/>
              <a:t>However, with increasing competition from platforms such as </a:t>
            </a:r>
            <a:r>
              <a:rPr lang="en-US" sz="2800" b="1" dirty="0"/>
              <a:t>Amazon Prime Video</a:t>
            </a:r>
            <a:r>
              <a:rPr lang="en-US" sz="2800" dirty="0"/>
              <a:t>, </a:t>
            </a:r>
            <a:r>
              <a:rPr lang="en-US" sz="2800" b="1" dirty="0"/>
              <a:t>Disney+</a:t>
            </a:r>
            <a:r>
              <a:rPr lang="en-US" sz="2800" dirty="0"/>
              <a:t>, and various </a:t>
            </a:r>
            <a:r>
              <a:rPr lang="en-US" sz="2800" b="1" dirty="0"/>
              <a:t>regional OTT providers</a:t>
            </a:r>
            <a:r>
              <a:rPr lang="en-US" sz="2800" dirty="0"/>
              <a:t>, Netflix needs to strategically analyze its content catalog to </a:t>
            </a:r>
            <a:r>
              <a:rPr lang="en-US" sz="2800" b="1" dirty="0"/>
              <a:t>identify strengths, gaps, and opportunities</a:t>
            </a:r>
            <a:r>
              <a:rPr lang="en-US" sz="2800" dirty="0"/>
              <a:t>.</a:t>
            </a:r>
          </a:p>
          <a:p>
            <a:r>
              <a:rPr lang="en-US" sz="2800" dirty="0"/>
              <a:t>This project focuses on </a:t>
            </a:r>
            <a:r>
              <a:rPr lang="en-US" sz="2800" b="1" dirty="0"/>
              <a:t>“Content Trends Analysis for Strategic Recommendations.”</a:t>
            </a:r>
            <a:br>
              <a:rPr lang="en-US" sz="2800" dirty="0"/>
            </a:br>
            <a:r>
              <a:rPr lang="en-US" sz="2800" dirty="0"/>
              <a:t>The goal is to explore how Netflix’s content distribution — in terms of </a:t>
            </a:r>
            <a:r>
              <a:rPr lang="en-US" sz="2800" b="1" dirty="0"/>
              <a:t>Movies vs. TV Shows</a:t>
            </a:r>
            <a:r>
              <a:rPr lang="en-US" sz="2800" dirty="0"/>
              <a:t>, </a:t>
            </a:r>
            <a:r>
              <a:rPr lang="en-US" sz="2800" b="1" dirty="0"/>
              <a:t>Genres</a:t>
            </a:r>
            <a:r>
              <a:rPr lang="en-US" sz="2800" dirty="0"/>
              <a:t>, and </a:t>
            </a:r>
            <a:r>
              <a:rPr lang="en-US" sz="2800" b="1" dirty="0"/>
              <a:t>Country-wise contributions</a:t>
            </a:r>
            <a:r>
              <a:rPr lang="en-US" sz="2800" dirty="0"/>
              <a:t> — has evolved over time.</a:t>
            </a:r>
          </a:p>
          <a:p>
            <a:r>
              <a:rPr lang="en-US" sz="2800" dirty="0"/>
              <a:t>Through this analysis, we aim to uncover </a:t>
            </a:r>
            <a:r>
              <a:rPr lang="en-US" sz="2800" b="1" dirty="0"/>
              <a:t>key trends, audience preferences</a:t>
            </a:r>
            <a:r>
              <a:rPr lang="en-US" sz="2800" dirty="0"/>
              <a:t>, and </a:t>
            </a:r>
            <a:r>
              <a:rPr lang="en-US" sz="2800" b="1" dirty="0"/>
              <a:t>insights</a:t>
            </a:r>
            <a:r>
              <a:rPr lang="en-US" sz="2800" dirty="0"/>
              <a:t> that can guide </a:t>
            </a:r>
            <a:r>
              <a:rPr lang="en-US" sz="2800" b="1" dirty="0"/>
              <a:t>data-driven decisions</a:t>
            </a:r>
            <a:r>
              <a:rPr lang="en-US" sz="2800" dirty="0"/>
              <a:t> for Netflix’s future content strategy and global market expansion.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D9034C-4AA6-7827-2206-13F971CC068D}"/>
              </a:ext>
            </a:extLst>
          </p:cNvPr>
          <p:cNvSpPr txBox="1"/>
          <p:nvPr/>
        </p:nvSpPr>
        <p:spPr>
          <a:xfrm>
            <a:off x="660398" y="1697669"/>
            <a:ext cx="96837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the </a:t>
            </a:r>
            <a:r>
              <a:rPr lang="en-US" b="1" dirty="0"/>
              <a:t>distribution and growth</a:t>
            </a:r>
            <a:r>
              <a:rPr lang="en-US" dirty="0"/>
              <a:t> of Movies and TV Shows on Netflix over the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the </a:t>
            </a:r>
            <a:r>
              <a:rPr lang="en-US" b="1" dirty="0"/>
              <a:t>most frequent genres</a:t>
            </a:r>
            <a:r>
              <a:rPr lang="en-US" dirty="0"/>
              <a:t> and track changes in their popularity.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</a:t>
            </a:r>
            <a:r>
              <a:rPr lang="en-US" b="1" dirty="0"/>
              <a:t>country-wise contributions</a:t>
            </a:r>
            <a:r>
              <a:rPr lang="en-US" dirty="0"/>
              <a:t> to assess Netflix’s global content diversity.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</a:t>
            </a:r>
            <a:r>
              <a:rPr lang="en-US" b="1" dirty="0"/>
              <a:t>strategic recommendations</a:t>
            </a:r>
            <a:r>
              <a:rPr lang="en-US" dirty="0"/>
              <a:t> for future content acquisition and production.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Significance of the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Netflix’s </a:t>
            </a:r>
            <a:r>
              <a:rPr lang="en-US" b="1" dirty="0"/>
              <a:t>content evolution</a:t>
            </a:r>
            <a:r>
              <a:rPr lang="en-US" dirty="0"/>
              <a:t> and </a:t>
            </a:r>
            <a:r>
              <a:rPr lang="en-US" b="1" dirty="0"/>
              <a:t>audience engagement patterns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</a:t>
            </a:r>
            <a:r>
              <a:rPr lang="en-US" b="1" dirty="0"/>
              <a:t>popular genres</a:t>
            </a:r>
            <a:r>
              <a:rPr lang="en-US" dirty="0"/>
              <a:t> and </a:t>
            </a:r>
            <a:r>
              <a:rPr lang="en-US" b="1" dirty="0"/>
              <a:t>underrepresented regions</a:t>
            </a:r>
            <a:r>
              <a:rPr lang="en-US" dirty="0"/>
              <a:t> to guide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</a:t>
            </a:r>
            <a:r>
              <a:rPr lang="en-US" b="1" dirty="0"/>
              <a:t>data-driven strategies</a:t>
            </a:r>
            <a:r>
              <a:rPr lang="en-US" dirty="0"/>
              <a:t> for:</a:t>
            </a:r>
          </a:p>
          <a:p>
            <a:pPr lvl="1"/>
            <a:r>
              <a:rPr lang="en-US" dirty="0"/>
              <a:t>- Balancing </a:t>
            </a:r>
            <a:r>
              <a:rPr lang="en-US" b="1" dirty="0"/>
              <a:t>global vs. local productions</a:t>
            </a:r>
            <a:endParaRPr lang="en-US" dirty="0"/>
          </a:p>
          <a:p>
            <a:pPr lvl="1"/>
            <a:r>
              <a:rPr lang="en-US" dirty="0"/>
              <a:t>- Recognizing </a:t>
            </a:r>
            <a:r>
              <a:rPr lang="en-US" b="1" dirty="0"/>
              <a:t>market trends</a:t>
            </a:r>
            <a:r>
              <a:rPr lang="en-US" dirty="0"/>
              <a:t> and </a:t>
            </a:r>
            <a:r>
              <a:rPr lang="en-US" b="1" dirty="0"/>
              <a:t>regional preferences</a:t>
            </a:r>
            <a:endParaRPr lang="en-US" dirty="0"/>
          </a:p>
          <a:p>
            <a:pPr lvl="1"/>
            <a:r>
              <a:rPr lang="en-US" dirty="0"/>
              <a:t>- Investing in </a:t>
            </a:r>
            <a:r>
              <a:rPr lang="en-US" b="1" dirty="0"/>
              <a:t>specific content types and countries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Netflix Management &amp; Strategy Team</a:t>
            </a:r>
            <a:r>
              <a:rPr lang="en-US" sz="1800" dirty="0"/>
              <a:t> – for strategic content planning and decision-making</a:t>
            </a:r>
          </a:p>
          <a:p>
            <a:r>
              <a:rPr lang="en-US" sz="1800" b="1" dirty="0"/>
              <a:t>Netflix Content &amp; Production Teams</a:t>
            </a:r>
            <a:r>
              <a:rPr lang="en-US" sz="1800" dirty="0"/>
              <a:t> – to guide content creation and acquisitions</a:t>
            </a:r>
          </a:p>
          <a:p>
            <a:r>
              <a:rPr lang="en-US" sz="1800" b="1" dirty="0"/>
              <a:t>Netflix Data Analytics &amp; Insights Department</a:t>
            </a:r>
            <a:r>
              <a:rPr lang="en-US" sz="1800" dirty="0"/>
              <a:t> – for actionable analytics on content trends</a:t>
            </a:r>
          </a:p>
          <a:p>
            <a:r>
              <a:rPr lang="en-US" sz="1800" b="1" dirty="0"/>
              <a:t>Data Analysts &amp; Data Scientists</a:t>
            </a:r>
            <a:r>
              <a:rPr lang="en-US" sz="1800" dirty="0"/>
              <a:t> – in the OTT/media industry, to benchmark or analyze patterns</a:t>
            </a:r>
          </a:p>
          <a:p>
            <a:r>
              <a:rPr lang="en-US" sz="1800" b="1" dirty="0"/>
              <a:t>Academic Researchers &amp; Students</a:t>
            </a:r>
            <a:r>
              <a:rPr lang="en-US" sz="1800" dirty="0"/>
              <a:t> – studying data analytics, media trends, or streaming platforms</a:t>
            </a:r>
          </a:p>
          <a:p>
            <a:r>
              <a:rPr lang="en-US" sz="1800" b="1" dirty="0"/>
              <a:t>Business Analysts &amp; Market Researchers</a:t>
            </a:r>
            <a:r>
              <a:rPr lang="en-US" sz="1800" dirty="0"/>
              <a:t> – for market intelligence and competitive insights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0586" y="1432560"/>
            <a:ext cx="9527721" cy="5243448"/>
          </a:xfrm>
        </p:spPr>
        <p:txBody>
          <a:bodyPr/>
          <a:lstStyle/>
          <a:p>
            <a:r>
              <a:rPr lang="en-US" b="1" dirty="0"/>
              <a:t>Python</a:t>
            </a:r>
            <a:r>
              <a:rPr lang="en-US" dirty="0"/>
              <a:t> – for data analysis and processing</a:t>
            </a:r>
          </a:p>
          <a:p>
            <a:r>
              <a:rPr lang="en-US" b="1" dirty="0" err="1"/>
              <a:t>Jupyter</a:t>
            </a:r>
            <a:r>
              <a:rPr lang="en-US" b="1" dirty="0"/>
              <a:t> Notebook / Google </a:t>
            </a:r>
            <a:r>
              <a:rPr lang="en-US" b="1" dirty="0" err="1"/>
              <a:t>Colab</a:t>
            </a:r>
            <a:r>
              <a:rPr lang="en-US" dirty="0"/>
              <a:t> – for coding, visualization, and collaborative work</a:t>
            </a:r>
          </a:p>
          <a:p>
            <a:r>
              <a:rPr lang="en-US" b="1" dirty="0"/>
              <a:t>NumPy</a:t>
            </a:r>
            <a:r>
              <a:rPr lang="en-US" dirty="0"/>
              <a:t> – for numerical computations and data manipulation</a:t>
            </a:r>
          </a:p>
          <a:p>
            <a:r>
              <a:rPr lang="en-US" b="1" dirty="0"/>
              <a:t>Matplotlib</a:t>
            </a:r>
            <a:r>
              <a:rPr lang="en-US" dirty="0"/>
              <a:t> – for data visualization and plotting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RESULTS1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A05F7F37-6984-FB9B-78A3-28DA2FB92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97" y="1352072"/>
            <a:ext cx="9372619" cy="437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1F40-61F5-A9E4-2028-61D27EB3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0F1862-D4F3-D9EB-176E-2E2938531B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3A3B93-82D2-A57B-4898-3D9B0C72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RESULTS2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4C0E530-3AAB-E420-2061-2352FB4AEFB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3F5036B-907B-9AB7-BC47-C7C142E40FA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 descr="A graph with blue bars&#10;&#10;AI-generated content may be incorrect.">
            <a:extLst>
              <a:ext uri="{FF2B5EF4-FFF2-40B4-BE49-F238E27FC236}">
                <a16:creationId xmlns:a16="http://schemas.microsoft.com/office/drawing/2014/main" id="{50737B11-23B3-882E-2B7D-04BC23380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764" y="1234549"/>
            <a:ext cx="8439160" cy="525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24A6-C6F7-0E13-B5FE-E6A5870D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94CC-45AC-6391-C127-232D7FE1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2560D1A-A584-25F8-1F57-468796F2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RESULTS3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0D8247-EFB8-6C04-BBBF-310CEEF88E4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 descr="A graph of 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01B20A5E-38CF-4808-1176-BE09AB939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8" y="1335238"/>
            <a:ext cx="8942171" cy="515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02F3-5B15-F4B3-4FC0-05D49317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314807-9A27-116F-CC98-E5EEF28F08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A0845DA-C188-DB03-7162-C74DB64A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115368" cy="878622"/>
          </a:xfrm>
        </p:spPr>
        <p:txBody>
          <a:bodyPr>
            <a:normAutofit/>
          </a:bodyPr>
          <a:lstStyle/>
          <a:p>
            <a:r>
              <a:rPr lang="en-GB" dirty="0"/>
              <a:t>GitHub repository 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B11EDF8-3FD7-C9FE-2AA8-09208B3BEFC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8935B953-0B74-DF35-9464-45E8CB01D8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3494" y="2075578"/>
            <a:ext cx="7708185" cy="25795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https://github.com/Krnkreddy/VOIS_AICTE_Oct2025_MajorProject_KRangaNitheeshKumarReddy.git</a:t>
            </a:r>
          </a:p>
        </p:txBody>
      </p:sp>
    </p:spTree>
    <p:extLst>
      <p:ext uri="{BB962C8B-B14F-4D97-AF65-F5344CB8AC3E}">
        <p14:creationId xmlns:p14="http://schemas.microsoft.com/office/powerpoint/2010/main" val="159692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3FACE-D55E-9B4A-7A75-15654F5D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D186A7-82FF-9AB1-EC5A-3E09B70C1A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CC33B2B-B475-4189-BA8F-3CF8248DC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A59AAC92-4932-4D74-A545-BA3EEE56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446528-FA87-4017-B061-CF7EE79FA2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4D4B4D0-2493-42A2-AEEB-9970A64E8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>
              <a:extLst>
                <a:ext uri="{FF2B5EF4-FFF2-40B4-BE49-F238E27FC236}">
                  <a16:creationId xmlns:a16="http://schemas.microsoft.com/office/drawing/2014/main" id="{676E13B7-7CB7-4489-914B-4012EE6EBF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>
              <a:extLst>
                <a:ext uri="{FF2B5EF4-FFF2-40B4-BE49-F238E27FC236}">
                  <a16:creationId xmlns:a16="http://schemas.microsoft.com/office/drawing/2014/main" id="{F2159841-C096-430C-B748-E8D2A5C99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B4F167EF-5A0C-487E-8776-97310E39E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9D8C053F-F025-4CB6-94C4-2841A20D6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>
              <a:extLst>
                <a:ext uri="{FF2B5EF4-FFF2-40B4-BE49-F238E27FC236}">
                  <a16:creationId xmlns:a16="http://schemas.microsoft.com/office/drawing/2014/main" id="{78581BD0-3E75-48CB-A2A3-44DB1ACB6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E90D466A-AB95-4676-82CB-3BEC98AFF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3AFED863-874C-49D9-AE2F-B9DFF00D5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C5390BF9-A1B3-D0A5-6FE6-4C64A8B7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327356"/>
            <a:ext cx="8900886" cy="108476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solidFill>
                  <a:schemeClr val="accent1"/>
                </a:solidFill>
              </a:rPr>
              <a:t>Getting started with Basics of Python Certificate  </a:t>
            </a:r>
          </a:p>
        </p:txBody>
      </p:sp>
      <p:pic>
        <p:nvPicPr>
          <p:cNvPr id="5" name="Picture 4" descr="A close-up of a hand&#10;&#10;AI-generated content may be incorrect.">
            <a:extLst>
              <a:ext uri="{FF2B5EF4-FFF2-40B4-BE49-F238E27FC236}">
                <a16:creationId xmlns:a16="http://schemas.microsoft.com/office/drawing/2014/main" id="{B761536A-9E87-8208-553B-AFA23F55C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985966" y="2370122"/>
            <a:ext cx="3176538" cy="121312"/>
          </a:xfrm>
          <a:prstGeom prst="rect">
            <a:avLst/>
          </a:prstGeom>
        </p:spPr>
      </p:pic>
      <p:pic>
        <p:nvPicPr>
          <p:cNvPr id="12" name="Picture 11" descr="A certificate of completion with red and white text&#10;&#10;AI-generated content may be incorrect.">
            <a:extLst>
              <a:ext uri="{FF2B5EF4-FFF2-40B4-BE49-F238E27FC236}">
                <a16:creationId xmlns:a16="http://schemas.microsoft.com/office/drawing/2014/main" id="{7F615741-5E2B-A0E0-6D43-9F3F9594C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249" y="1477067"/>
            <a:ext cx="7240910" cy="5122944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0B10ED4-748B-FD2D-3185-4AB559AC71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1BF57D1-2242-C3F4-D177-EE064D5454A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1060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CD52E-39EF-82B8-E116-6B0D9B50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CC33B2B-B475-4189-BA8F-3CF8248DC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59AAC92-4932-4D74-A545-BA3EEE56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8446528-FA87-4017-B061-CF7EE79FA2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4D4B4D0-2493-42A2-AEEB-9970A64E8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676E13B7-7CB7-4489-914B-4012EE6EBF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F2159841-C096-430C-B748-E8D2A5C99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B4F167EF-5A0C-487E-8776-97310E39E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9D8C053F-F025-4CB6-94C4-2841A20D6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8">
              <a:extLst>
                <a:ext uri="{FF2B5EF4-FFF2-40B4-BE49-F238E27FC236}">
                  <a16:creationId xmlns:a16="http://schemas.microsoft.com/office/drawing/2014/main" id="{78581BD0-3E75-48CB-A2A3-44DB1ACB6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E90D466A-AB95-4676-82CB-3BEC98AFF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3AFED863-874C-49D9-AE2F-B9DFF00D5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5359B88B-4EF4-AA7A-A15C-4B214767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947" y="5715"/>
            <a:ext cx="8288035" cy="10950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</a:rPr>
              <a:t>Data Visualization Certificate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214EFD-3FAC-BE9B-CFBB-2D1FCCED01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985965" y="2516142"/>
            <a:ext cx="4029717" cy="153894"/>
          </a:xfrm>
          <a:prstGeom prst="rect">
            <a:avLst/>
          </a:prstGeom>
        </p:spPr>
      </p:pic>
      <p:pic>
        <p:nvPicPr>
          <p:cNvPr id="9" name="Picture 8" descr="A certificate of completion with a red ribbon and a red seal&#10;&#10;AI-generated content may be incorrect.">
            <a:extLst>
              <a:ext uri="{FF2B5EF4-FFF2-40B4-BE49-F238E27FC236}">
                <a16:creationId xmlns:a16="http://schemas.microsoft.com/office/drawing/2014/main" id="{CE393F25-3B84-B701-BA5C-DF95E571D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171" y="1335574"/>
            <a:ext cx="7259856" cy="5136346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23E8C61-31F1-4380-CEFB-D75448F856D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F0577D1-D5B1-726B-4FAB-B353BDE31B1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C0D16A-6AFC-C03A-88CD-89382CCCB6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444681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602</TotalTime>
  <Words>421</Words>
  <Application>Microsoft Office PowerPoint</Application>
  <PresentationFormat>Widescreen</PresentationFormat>
  <Paragraphs>44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Trebuchet MS</vt:lpstr>
      <vt:lpstr>Wingdings</vt:lpstr>
      <vt:lpstr>Wingdings 3</vt:lpstr>
      <vt:lpstr>Facet</vt:lpstr>
      <vt:lpstr>Netflix Data Analysis</vt:lpstr>
      <vt:lpstr>PROBLEM  STATEMENT</vt:lpstr>
      <vt:lpstr>Project Description</vt:lpstr>
      <vt:lpstr>WHO ARE THE END USERS?</vt:lpstr>
      <vt:lpstr>Technology Used</vt:lpstr>
      <vt:lpstr>RESULTS1 </vt:lpstr>
      <vt:lpstr>RESULTS2</vt:lpstr>
      <vt:lpstr>RESULTS3 </vt:lpstr>
      <vt:lpstr>GitHub repository </vt:lpstr>
      <vt:lpstr>Getting started with Basics of Python Certificate  </vt:lpstr>
      <vt:lpstr>Data Visualization Certificate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K RANGA NITHEESH KUMAR REDDY</cp:lastModifiedBy>
  <cp:revision>139</cp:revision>
  <dcterms:created xsi:type="dcterms:W3CDTF">2021-07-11T13:13:15Z</dcterms:created>
  <dcterms:modified xsi:type="dcterms:W3CDTF">2025-10-16T09:12:53Z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